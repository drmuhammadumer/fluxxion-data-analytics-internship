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Open Sans ExtraBold"/>
      <p:bold r:id="rId23"/>
      <p:boldItalic r:id="rId24"/>
    </p:embeddedFont>
    <p:embeddedFont>
      <p:font typeface="Open Sans Light"/>
      <p:regular r:id="rId25"/>
      <p:bold r:id="rId26"/>
      <p:italic r:id="rId27"/>
      <p:boldItalic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gO4JtLM+/GX2c2kKb0dI4DPkb3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OpenSansExtraBold-boldItalic.fntdata"/><Relationship Id="rId23" Type="http://schemas.openxmlformats.org/officeDocument/2006/relationships/font" Target="fonts/OpenSansExtra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penSansLight-bold.fntdata"/><Relationship Id="rId25" Type="http://schemas.openxmlformats.org/officeDocument/2006/relationships/font" Target="fonts/OpenSansLight-regular.fntdata"/><Relationship Id="rId28" Type="http://schemas.openxmlformats.org/officeDocument/2006/relationships/font" Target="fonts/OpenSansLight-boldItalic.fntdata"/><Relationship Id="rId27" Type="http://schemas.openxmlformats.org/officeDocument/2006/relationships/font" Target="fonts/OpenSans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2ec8cd633_0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3b2ec8cd633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2ec8cd633_0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3b2ec8cd633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2ec8cd633_0_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b2ec8cd633_0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2ec8cd633_0_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b2ec8cd633_0_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2ec8cd633_0_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b2ec8cd633_0_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2ec8cd633_0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b2ec8cd633_0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2ec8cd633_0_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b2ec8cd633_0_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2ec8cd633_0_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b2ec8cd633_0_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2ec8cd633_0_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b2ec8cd633_0_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2ec8cd633_0_1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b2ec8cd633_0_1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 flipH="1" rot="10800000">
            <a:off x="-1" y="0"/>
            <a:ext cx="9163201" cy="5148001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16564" y="0"/>
                </a:lnTo>
                <a:lnTo>
                  <a:pt x="21600" y="8964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537900" y="1895175"/>
            <a:ext cx="55893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</a:rPr>
              <a:t>Prepared by: </a:t>
            </a:r>
            <a:r>
              <a:rPr b="1" lang="en-US" sz="2400">
                <a:solidFill>
                  <a:schemeClr val="lt1"/>
                </a:solidFill>
              </a:rPr>
              <a:t>Muhammad Umer</a:t>
            </a:r>
            <a:endParaRPr b="1" sz="24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pen Sans ExtraBold"/>
              <a:buNone/>
            </a:pPr>
            <a:r>
              <a:rPr lang="en-US" sz="2400">
                <a:solidFill>
                  <a:schemeClr val="lt1"/>
                </a:solidFill>
              </a:rPr>
              <a:t>Intern ID: </a:t>
            </a:r>
            <a:r>
              <a:rPr b="1" lang="en-US" sz="2400">
                <a:solidFill>
                  <a:schemeClr val="lt1"/>
                </a:solidFill>
              </a:rPr>
              <a:t>FLX-S8-342</a:t>
            </a:r>
            <a:endParaRPr b="1" sz="48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537900" y="3315475"/>
            <a:ext cx="5550600" cy="5257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Open Sans Light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Data analytics </a:t>
            </a:r>
            <a:r>
              <a:rPr lang="en-US" sz="20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Internship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433275" y="1030150"/>
            <a:ext cx="6390600" cy="38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Char char="●"/>
            </a:pPr>
            <a:r>
              <a:rPr b="1" lang="en-US" sz="1800">
                <a:solidFill>
                  <a:srgbClr val="585858"/>
                </a:solidFill>
              </a:rPr>
              <a:t>Introduction</a:t>
            </a:r>
            <a:br>
              <a:rPr b="1" lang="en-US" sz="1800">
                <a:solidFill>
                  <a:srgbClr val="585858"/>
                </a:solidFill>
              </a:rPr>
            </a:br>
            <a:endParaRPr b="1" sz="1800">
              <a:solidFill>
                <a:srgbClr val="58585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Char char="●"/>
            </a:pPr>
            <a:r>
              <a:rPr b="1" lang="en-US" sz="1800">
                <a:solidFill>
                  <a:srgbClr val="585858"/>
                </a:solidFill>
              </a:rPr>
              <a:t>Data Exploration</a:t>
            </a:r>
            <a:br>
              <a:rPr b="1" lang="en-US" sz="1800">
                <a:solidFill>
                  <a:srgbClr val="585858"/>
                </a:solidFill>
              </a:rPr>
            </a:br>
            <a:endParaRPr b="1" sz="1800">
              <a:solidFill>
                <a:srgbClr val="58585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Char char="●"/>
            </a:pPr>
            <a:r>
              <a:rPr b="1" lang="en-US" sz="1800">
                <a:solidFill>
                  <a:srgbClr val="585858"/>
                </a:solidFill>
              </a:rPr>
              <a:t>Data Cleaning &amp; Preparation</a:t>
            </a:r>
            <a:br>
              <a:rPr b="1" lang="en-US" sz="1800">
                <a:solidFill>
                  <a:srgbClr val="585858"/>
                </a:solidFill>
              </a:rPr>
            </a:br>
            <a:endParaRPr b="1" sz="1800">
              <a:solidFill>
                <a:srgbClr val="58585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Char char="●"/>
            </a:pPr>
            <a:r>
              <a:rPr b="1" lang="en-US" sz="1800">
                <a:solidFill>
                  <a:srgbClr val="585858"/>
                </a:solidFill>
              </a:rPr>
              <a:t>RFM Analysis Methodology</a:t>
            </a:r>
            <a:br>
              <a:rPr b="1" lang="en-US" sz="1800">
                <a:solidFill>
                  <a:srgbClr val="585858"/>
                </a:solidFill>
              </a:rPr>
            </a:br>
            <a:endParaRPr b="1" sz="1800">
              <a:solidFill>
                <a:srgbClr val="58585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Char char="●"/>
            </a:pPr>
            <a:r>
              <a:rPr b="1" lang="en-US" sz="1800">
                <a:solidFill>
                  <a:srgbClr val="585858"/>
                </a:solidFill>
              </a:rPr>
              <a:t>Customer Segmentation</a:t>
            </a:r>
            <a:br>
              <a:rPr b="1" lang="en-US" sz="1800">
                <a:solidFill>
                  <a:srgbClr val="585858"/>
                </a:solidFill>
              </a:rPr>
            </a:br>
            <a:endParaRPr b="1" sz="1800">
              <a:solidFill>
                <a:srgbClr val="58585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Char char="●"/>
            </a:pPr>
            <a:r>
              <a:rPr b="1" lang="en-US" sz="1800">
                <a:solidFill>
                  <a:srgbClr val="585858"/>
                </a:solidFill>
              </a:rPr>
              <a:t>Data Insights</a:t>
            </a:r>
            <a:br>
              <a:rPr b="1" lang="en-US" sz="1800">
                <a:solidFill>
                  <a:srgbClr val="585858"/>
                </a:solidFill>
              </a:rPr>
            </a:br>
            <a:endParaRPr b="1" sz="1800">
              <a:solidFill>
                <a:srgbClr val="58585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Char char="●"/>
            </a:pPr>
            <a:r>
              <a:rPr b="1" lang="en-US" sz="1800">
                <a:solidFill>
                  <a:srgbClr val="585858"/>
                </a:solidFill>
              </a:rPr>
              <a:t>Recommendations &amp; Conclusion</a:t>
            </a:r>
            <a:endParaRPr b="1" sz="1800">
              <a:solidFill>
                <a:srgbClr val="58585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8585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05025" y="1083299"/>
            <a:ext cx="8565600" cy="37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The objective of this analysis is to segment customers using </a:t>
            </a:r>
            <a:r>
              <a:rPr b="1" lang="en-US" sz="1600">
                <a:solidFill>
                  <a:schemeClr val="dk1"/>
                </a:solidFill>
              </a:rPr>
              <a:t>RFM (Recency, Frequency, Monetary) analysis</a:t>
            </a:r>
            <a:r>
              <a:rPr lang="en-US" sz="1600">
                <a:solidFill>
                  <a:schemeClr val="dk1"/>
                </a:solidFill>
              </a:rPr>
              <a:t> and apply insights to both </a:t>
            </a:r>
            <a:r>
              <a:rPr b="1" lang="en-US" sz="1600">
                <a:solidFill>
                  <a:schemeClr val="dk1"/>
                </a:solidFill>
              </a:rPr>
              <a:t>existing customers</a:t>
            </a:r>
            <a:r>
              <a:rPr lang="en-US" sz="1600">
                <a:solidFill>
                  <a:schemeClr val="dk1"/>
                </a:solidFill>
              </a:rPr>
              <a:t> and the </a:t>
            </a:r>
            <a:r>
              <a:rPr b="1" lang="en-US" sz="1600">
                <a:solidFill>
                  <a:schemeClr val="dk1"/>
                </a:solidFill>
              </a:rPr>
              <a:t>New Customer List</a:t>
            </a:r>
            <a:r>
              <a:rPr lang="en-US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This approach enables identification of: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High-value customers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Loyal customers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At-risk customers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The insights support data-driven marketing and customer retention strategies.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Exploration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321475" y="1046275"/>
            <a:ext cx="8449200" cy="40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Datasets Used</a:t>
            </a:r>
            <a:endParaRPr b="1" sz="15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Customer Demographic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Customer Address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Transactions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New Customer List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Initial exploration focused on:</a:t>
            </a:r>
            <a:endParaRPr b="1" sz="15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Customer transaction behaviour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Spending and profit patterns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Demographic characteristics (age, gender, wealth segment)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8585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</a:rPr>
              <a:t>Data Cleaning &amp; Preparation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205025" y="1083304"/>
            <a:ext cx="8565600" cy="50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Open Sans"/>
                <a:ea typeface="Open Sans"/>
                <a:cs typeface="Open Sans"/>
                <a:sym typeface="Open Sans"/>
              </a:rPr>
              <a:t>To ensure reliable analysis, the following cleaning steps were performed: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Removed records with missing customer IDs.</a:t>
            </a:r>
            <a:br>
              <a:rPr lang="en-US" sz="1800">
                <a:latin typeface="Open Sans"/>
                <a:ea typeface="Open Sans"/>
                <a:cs typeface="Open Sans"/>
                <a:sym typeface="Open Sans"/>
              </a:rPr>
            </a:b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Excluded transactions with missing dates or amounts.</a:t>
            </a:r>
            <a:br>
              <a:rPr lang="en-US" sz="1800">
                <a:latin typeface="Open Sans"/>
                <a:ea typeface="Open Sans"/>
                <a:cs typeface="Open Sans"/>
                <a:sym typeface="Open Sans"/>
              </a:rPr>
            </a:b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Removed duplicate transaction records.</a:t>
            </a:r>
            <a:br>
              <a:rPr lang="en-US" sz="1800">
                <a:latin typeface="Open Sans"/>
                <a:ea typeface="Open Sans"/>
                <a:cs typeface="Open Sans"/>
                <a:sym typeface="Open Sans"/>
              </a:rPr>
            </a:b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Standardised data types for dates and numeric fields.</a:t>
            </a:r>
            <a:br>
              <a:rPr lang="en-US" sz="1800">
                <a:latin typeface="Open Sans"/>
                <a:ea typeface="Open Sans"/>
                <a:cs typeface="Open Sans"/>
                <a:sym typeface="Open Sans"/>
              </a:rPr>
            </a:b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Validated transaction-customer consistency.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Open Sans"/>
                <a:ea typeface="Open Sans"/>
                <a:cs typeface="Open Sans"/>
                <a:sym typeface="Open Sans"/>
              </a:rPr>
              <a:t>Only clean and valid records were used for RFM analysis.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205025" y="263974"/>
            <a:ext cx="85656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</a:rPr>
              <a:t>New Columns Created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205025" y="1083303"/>
            <a:ext cx="8565600" cy="38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Additional derived columns were created to enhance analysis: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Profit:</a:t>
            </a:r>
            <a:r>
              <a:rPr lang="en-US">
                <a:solidFill>
                  <a:schemeClr val="dk1"/>
                </a:solidFill>
              </a:rPr>
              <a:t> Transaction revenue minus cost.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Gender:</a:t>
            </a:r>
            <a:r>
              <a:rPr lang="en-US">
                <a:solidFill>
                  <a:schemeClr val="dk1"/>
                </a:solidFill>
              </a:rPr>
              <a:t> Standardised gender values.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Age:</a:t>
            </a:r>
            <a:r>
              <a:rPr lang="en-US">
                <a:solidFill>
                  <a:schemeClr val="dk1"/>
                </a:solidFill>
              </a:rPr>
              <a:t> Calculated from date of birth.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Age Category:</a:t>
            </a:r>
            <a:r>
              <a:rPr lang="en-US">
                <a:solidFill>
                  <a:schemeClr val="dk1"/>
                </a:solidFill>
              </a:rPr>
              <a:t> Grouped age bands.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These variables improved customer profiling and segmentation insights.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2ec8cd633_0_21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b2ec8cd633_0_21"/>
          <p:cNvSpPr/>
          <p:nvPr/>
        </p:nvSpPr>
        <p:spPr>
          <a:xfrm>
            <a:off x="205025" y="263974"/>
            <a:ext cx="85656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lt1"/>
                </a:solidFill>
              </a:rPr>
              <a:t>RFM Analysis Overview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b2ec8cd633_0_21"/>
          <p:cNvSpPr/>
          <p:nvPr/>
        </p:nvSpPr>
        <p:spPr>
          <a:xfrm>
            <a:off x="205025" y="1055975"/>
            <a:ext cx="8565600" cy="38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RFM analysis measures customer value using: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Recency:</a:t>
            </a:r>
            <a:r>
              <a:rPr lang="en-US" sz="2000">
                <a:solidFill>
                  <a:schemeClr val="dk1"/>
                </a:solidFill>
              </a:rPr>
              <a:t> Days since last purchase.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Frequency:</a:t>
            </a:r>
            <a:r>
              <a:rPr lang="en-US" sz="2000">
                <a:solidFill>
                  <a:schemeClr val="dk1"/>
                </a:solidFill>
              </a:rPr>
              <a:t> Number of transactions.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Monetary:</a:t>
            </a:r>
            <a:r>
              <a:rPr lang="en-US" sz="2000">
                <a:solidFill>
                  <a:schemeClr val="dk1"/>
                </a:solidFill>
              </a:rPr>
              <a:t> Total transaction value.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This method helps identify customer engagement and profitability.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205025" y="263974"/>
            <a:ext cx="8565600" cy="7587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</a:rPr>
              <a:t>Quartile-Based Scoring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800" y="1022725"/>
            <a:ext cx="8427825" cy="23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8"/>
          <p:cNvSpPr txBox="1"/>
          <p:nvPr/>
        </p:nvSpPr>
        <p:spPr>
          <a:xfrm>
            <a:off x="342800" y="3403000"/>
            <a:ext cx="80508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585858"/>
                </a:solidFill>
              </a:rPr>
              <a:t>Scoring logic:</a:t>
            </a:r>
            <a:endParaRPr b="1" sz="1800">
              <a:solidFill>
                <a:srgbClr val="585858"/>
              </a:solidFill>
            </a:endParaRPr>
          </a:p>
          <a:p>
            <a:pPr indent="-29845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rgbClr val="585858"/>
                </a:solidFill>
              </a:rPr>
              <a:t>Lower recency = higher score</a:t>
            </a:r>
            <a:br>
              <a:rPr lang="en-US" sz="1800">
                <a:solidFill>
                  <a:srgbClr val="585858"/>
                </a:solidFill>
              </a:rPr>
            </a:br>
            <a:endParaRPr sz="1800">
              <a:solidFill>
                <a:srgbClr val="585858"/>
              </a:solidFill>
            </a:endParaRPr>
          </a:p>
          <a:p>
            <a:pPr indent="-29845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rgbClr val="585858"/>
                </a:solidFill>
              </a:rPr>
              <a:t>Higher frequency = higher score</a:t>
            </a:r>
            <a:br>
              <a:rPr lang="en-US" sz="1800">
                <a:solidFill>
                  <a:srgbClr val="585858"/>
                </a:solidFill>
              </a:rPr>
            </a:br>
            <a:endParaRPr sz="1800">
              <a:solidFill>
                <a:srgbClr val="585858"/>
              </a:solidFill>
            </a:endParaRPr>
          </a:p>
          <a:p>
            <a:pPr indent="-29845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rgbClr val="585858"/>
                </a:solidFill>
              </a:rPr>
              <a:t>Higher monetary value = higher score</a:t>
            </a:r>
            <a:endParaRPr sz="1800">
              <a:solidFill>
                <a:srgbClr val="58585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8585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2ec8cd633_0_28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b2ec8cd633_0_28"/>
          <p:cNvSpPr/>
          <p:nvPr/>
        </p:nvSpPr>
        <p:spPr>
          <a:xfrm>
            <a:off x="205025" y="263974"/>
            <a:ext cx="85656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</a:rPr>
              <a:t>Customer Segmentation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b2ec8cd633_0_28"/>
          <p:cNvSpPr/>
          <p:nvPr/>
        </p:nvSpPr>
        <p:spPr>
          <a:xfrm>
            <a:off x="205025" y="1083300"/>
            <a:ext cx="8565600" cy="3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Based on RFM scores, customers were segmented into: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Platinum:</a:t>
            </a:r>
            <a:r>
              <a:rPr lang="en-US" sz="1800">
                <a:solidFill>
                  <a:schemeClr val="dk1"/>
                </a:solidFill>
              </a:rPr>
              <a:t> Highest-value customers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Gold:</a:t>
            </a:r>
            <a:r>
              <a:rPr lang="en-US" sz="1800">
                <a:solidFill>
                  <a:schemeClr val="dk1"/>
                </a:solidFill>
              </a:rPr>
              <a:t> Loyal and high-potential customers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Silver:</a:t>
            </a:r>
            <a:r>
              <a:rPr lang="en-US" sz="1800">
                <a:solidFill>
                  <a:schemeClr val="dk1"/>
                </a:solidFill>
              </a:rPr>
              <a:t> Medium-value customers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Bronze:</a:t>
            </a:r>
            <a:r>
              <a:rPr lang="en-US" sz="1800">
                <a:solidFill>
                  <a:schemeClr val="dk1"/>
                </a:solidFill>
              </a:rPr>
              <a:t> Low-value or at-risk customers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2ec8cd633_0_42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b2ec8cd633_0_42"/>
          <p:cNvSpPr/>
          <p:nvPr/>
        </p:nvSpPr>
        <p:spPr>
          <a:xfrm>
            <a:off x="205025" y="263974"/>
            <a:ext cx="85656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</a:rPr>
              <a:t>RFM Score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2ec8cd633_0_42"/>
          <p:cNvSpPr/>
          <p:nvPr/>
        </p:nvSpPr>
        <p:spPr>
          <a:xfrm>
            <a:off x="205025" y="1083299"/>
            <a:ext cx="8565600" cy="3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Chart: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i="1" lang="en-US" sz="1800">
                <a:solidFill>
                  <a:schemeClr val="dk1"/>
                </a:solidFill>
              </a:rPr>
              <a:t>Count of Customers in RFM Score</a:t>
            </a:r>
            <a:endParaRPr i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Shows customer distribution across RFM scores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High RFM score customers represent the most valuable segment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Insight:</a:t>
            </a:r>
            <a:br>
              <a:rPr b="1"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 High RFM score customers should be prioritised for retention strategies.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2ec8cd633_0_54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b2ec8cd633_0_54"/>
          <p:cNvSpPr/>
          <p:nvPr/>
        </p:nvSpPr>
        <p:spPr>
          <a:xfrm>
            <a:off x="205025" y="263974"/>
            <a:ext cx="85656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</a:rPr>
              <a:t>RFM Score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b2ec8cd633_0_54"/>
          <p:cNvSpPr/>
          <p:nvPr/>
        </p:nvSpPr>
        <p:spPr>
          <a:xfrm>
            <a:off x="205025" y="1083300"/>
            <a:ext cx="3815100" cy="38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Chart:</a:t>
            </a:r>
            <a:r>
              <a:rPr lang="en-US" sz="1600">
                <a:solidFill>
                  <a:schemeClr val="dk1"/>
                </a:solidFill>
              </a:rPr>
              <a:t> </a:t>
            </a:r>
            <a:r>
              <a:rPr i="1" lang="en-US" sz="1600">
                <a:solidFill>
                  <a:schemeClr val="dk1"/>
                </a:solidFill>
              </a:rPr>
              <a:t>Count of Customers in RFM Score</a:t>
            </a:r>
            <a:endParaRPr i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Shows customer distribution across RFM scores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High RFM score customers represent the most valuable segment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Insight:</a:t>
            </a:r>
            <a:br>
              <a:rPr b="1"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High RFM score customers should be prioritised for retention strategies.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8" name="Google Shape;128;g3b2ec8cd633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2525" y="1083300"/>
            <a:ext cx="4819075" cy="36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2ec8cd633_0_34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b2ec8cd633_0_34"/>
          <p:cNvSpPr/>
          <p:nvPr/>
        </p:nvSpPr>
        <p:spPr>
          <a:xfrm>
            <a:off x="205025" y="263974"/>
            <a:ext cx="85656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</a:rPr>
              <a:t>Customers by Age Group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b2ec8cd633_0_34"/>
          <p:cNvSpPr/>
          <p:nvPr/>
        </p:nvSpPr>
        <p:spPr>
          <a:xfrm>
            <a:off x="205025" y="1083300"/>
            <a:ext cx="3771900" cy="3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Chart:</a:t>
            </a:r>
            <a:r>
              <a:rPr lang="en-US" sz="1600">
                <a:solidFill>
                  <a:schemeClr val="dk1"/>
                </a:solidFill>
              </a:rPr>
              <a:t> </a:t>
            </a:r>
            <a:r>
              <a:rPr i="1" lang="en-US" sz="1600">
                <a:solidFill>
                  <a:schemeClr val="dk1"/>
                </a:solidFill>
              </a:rPr>
              <a:t>Count of Customers by Age Group</a:t>
            </a:r>
            <a:endParaRPr i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Displays customer concentration across age categories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Majority of customers fall within working-age groups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Insight:</a:t>
            </a:r>
            <a:br>
              <a:rPr b="1"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Certain age groups show higher engagement and spending behaviour.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6" name="Google Shape;136;g3b2ec8cd633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9325" y="1175075"/>
            <a:ext cx="4641301" cy="34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2ec8cd633_0_66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b2ec8cd633_0_66"/>
          <p:cNvSpPr/>
          <p:nvPr/>
        </p:nvSpPr>
        <p:spPr>
          <a:xfrm>
            <a:off x="205025" y="263974"/>
            <a:ext cx="85656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</a:rPr>
              <a:t>Car Ownership by Wealth Segment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b2ec8cd633_0_66"/>
          <p:cNvSpPr/>
          <p:nvPr/>
        </p:nvSpPr>
        <p:spPr>
          <a:xfrm>
            <a:off x="205025" y="1083300"/>
            <a:ext cx="4012800" cy="3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Chart:</a:t>
            </a:r>
            <a:r>
              <a:rPr lang="en-US" sz="1600">
                <a:solidFill>
                  <a:schemeClr val="dk1"/>
                </a:solidFill>
              </a:rPr>
              <a:t> </a:t>
            </a:r>
            <a:r>
              <a:rPr i="1" lang="en-US" sz="1600">
                <a:solidFill>
                  <a:schemeClr val="dk1"/>
                </a:solidFill>
              </a:rPr>
              <a:t>Count of Customers Who Own a Car by Wealth Segment</a:t>
            </a:r>
            <a:endParaRPr i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Compares car ownership across wealth segments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Affluent and Mass Customer segments show higher ownership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Insight:</a:t>
            </a:r>
            <a:br>
              <a:rPr b="1"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High-wealth customers with car ownership present strong upsell potential.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None/>
            </a:pPr>
            <a:r>
              <a:t/>
            </a:r>
            <a:endParaRPr b="1" sz="25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4" name="Google Shape;144;g3b2ec8cd633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7225" y="1083300"/>
            <a:ext cx="4621375" cy="348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2ec8cd633_0_60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b2ec8cd633_0_60"/>
          <p:cNvSpPr/>
          <p:nvPr/>
        </p:nvSpPr>
        <p:spPr>
          <a:xfrm>
            <a:off x="205025" y="263974"/>
            <a:ext cx="85656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</a:rPr>
              <a:t>Age Group by Wealth Segment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b2ec8cd633_0_60"/>
          <p:cNvSpPr/>
          <p:nvPr/>
        </p:nvSpPr>
        <p:spPr>
          <a:xfrm>
            <a:off x="205025" y="1083300"/>
            <a:ext cx="4055700" cy="38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Chart:</a:t>
            </a:r>
            <a:r>
              <a:rPr lang="en-US" sz="1500">
                <a:solidFill>
                  <a:schemeClr val="dk1"/>
                </a:solidFill>
              </a:rPr>
              <a:t> </a:t>
            </a:r>
            <a:r>
              <a:rPr i="1" lang="en-US" sz="1500">
                <a:solidFill>
                  <a:schemeClr val="dk1"/>
                </a:solidFill>
              </a:rPr>
              <a:t>Count of Customers by Age Group Divided by Wealth Segment</a:t>
            </a:r>
            <a:endParaRPr i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Highlights interaction between age and wealth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Certain age groups dominate affluent segments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Insight:</a:t>
            </a:r>
            <a:br>
              <a:rPr b="1" lang="en-US" sz="1500">
                <a:solidFill>
                  <a:schemeClr val="dk1"/>
                </a:solidFill>
              </a:rPr>
            </a:br>
            <a:r>
              <a:rPr lang="en-US" sz="1500">
                <a:solidFill>
                  <a:schemeClr val="dk1"/>
                </a:solidFill>
              </a:rPr>
              <a:t> Customers in specific age-wealth combinations represent high-value targets.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2" name="Google Shape;152;g3b2ec8cd633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3125" y="1083300"/>
            <a:ext cx="4629925" cy="363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2ec8cd633_0_85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b2ec8cd633_0_85"/>
          <p:cNvSpPr/>
          <p:nvPr/>
        </p:nvSpPr>
        <p:spPr>
          <a:xfrm>
            <a:off x="205025" y="238149"/>
            <a:ext cx="85656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</a:rPr>
              <a:t>Key Insights Summary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b2ec8cd633_0_85"/>
          <p:cNvSpPr/>
          <p:nvPr/>
        </p:nvSpPr>
        <p:spPr>
          <a:xfrm>
            <a:off x="205025" y="1083303"/>
            <a:ext cx="8565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High RFM customers generate the majority of revenue and profit.</a:t>
            </a:r>
            <a:br>
              <a:rPr lang="en-US" sz="2000">
                <a:latin typeface="Open Sans"/>
                <a:ea typeface="Open Sans"/>
                <a:cs typeface="Open Sans"/>
                <a:sym typeface="Open Sans"/>
              </a:rPr>
            </a:br>
            <a:endParaRPr sz="2000"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Wealth segment and age strongly influence customer value.</a:t>
            </a:r>
            <a:br>
              <a:rPr lang="en-US" sz="2000">
                <a:latin typeface="Open Sans"/>
                <a:ea typeface="Open Sans"/>
                <a:cs typeface="Open Sans"/>
                <a:sym typeface="Open Sans"/>
              </a:rPr>
            </a:br>
            <a:endParaRPr sz="2000"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Demographic attributes enhance RFM interpretability.</a:t>
            </a:r>
            <a:br>
              <a:rPr lang="en-US" sz="2000">
                <a:latin typeface="Open Sans"/>
                <a:ea typeface="Open Sans"/>
                <a:cs typeface="Open Sans"/>
                <a:sym typeface="Open Sans"/>
              </a:rPr>
            </a:br>
            <a:endParaRPr sz="2000"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New customers can be prioritised using demographic alignment.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2ec8cd633_0_91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b2ec8cd633_0_91"/>
          <p:cNvSpPr/>
          <p:nvPr/>
        </p:nvSpPr>
        <p:spPr>
          <a:xfrm>
            <a:off x="205025" y="263974"/>
            <a:ext cx="85656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</a:rPr>
              <a:t>Business Recommendations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b2ec8cd633_0_91"/>
          <p:cNvSpPr/>
          <p:nvPr/>
        </p:nvSpPr>
        <p:spPr>
          <a:xfrm>
            <a:off x="205025" y="1083303"/>
            <a:ext cx="8565600" cy="3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Focus premium offers on Platinum customers</a:t>
            </a:r>
            <a:br>
              <a:rPr lang="en-US" sz="2000">
                <a:latin typeface="Open Sans"/>
                <a:ea typeface="Open Sans"/>
                <a:cs typeface="Open Sans"/>
                <a:sym typeface="Open Sans"/>
              </a:rPr>
            </a:br>
            <a:endParaRPr sz="2000"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Strengthen loyalty programs for Gold customers</a:t>
            </a:r>
            <a:br>
              <a:rPr lang="en-US" sz="2000">
                <a:latin typeface="Open Sans"/>
                <a:ea typeface="Open Sans"/>
                <a:cs typeface="Open Sans"/>
                <a:sym typeface="Open Sans"/>
              </a:rPr>
            </a:br>
            <a:endParaRPr sz="2000"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Upsell Silver customers</a:t>
            </a:r>
            <a:br>
              <a:rPr lang="en-US" sz="2000">
                <a:latin typeface="Open Sans"/>
                <a:ea typeface="Open Sans"/>
                <a:cs typeface="Open Sans"/>
                <a:sym typeface="Open Sans"/>
              </a:rPr>
            </a:br>
            <a:endParaRPr sz="2000"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Apply low-cost re-engagement for Bronze customers</a:t>
            </a:r>
            <a:br>
              <a:rPr lang="en-US" sz="2000">
                <a:latin typeface="Open Sans"/>
                <a:ea typeface="Open Sans"/>
                <a:cs typeface="Open Sans"/>
                <a:sym typeface="Open Sans"/>
              </a:rPr>
            </a:br>
            <a:endParaRPr sz="2000"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Target new customers matching high-value demographic profiles</a:t>
            </a:r>
            <a:br>
              <a:rPr b="1" lang="en-US" sz="2000">
                <a:latin typeface="Open Sans"/>
                <a:ea typeface="Open Sans"/>
                <a:cs typeface="Open Sans"/>
                <a:sym typeface="Open Sans"/>
              </a:rPr>
            </a:br>
            <a:endParaRPr b="1"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2ec8cd633_0_108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b2ec8cd633_0_108"/>
          <p:cNvSpPr/>
          <p:nvPr/>
        </p:nvSpPr>
        <p:spPr>
          <a:xfrm>
            <a:off x="205025" y="263974"/>
            <a:ext cx="85656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b2ec8cd633_0_108"/>
          <p:cNvSpPr/>
          <p:nvPr/>
        </p:nvSpPr>
        <p:spPr>
          <a:xfrm>
            <a:off x="205025" y="1083303"/>
            <a:ext cx="8565600" cy="3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Clean data enabled accurate RFM analysis</a:t>
            </a:r>
            <a:br>
              <a:rPr lang="en-US" sz="2000">
                <a:latin typeface="Open Sans"/>
                <a:ea typeface="Open Sans"/>
                <a:cs typeface="Open Sans"/>
                <a:sym typeface="Open Sans"/>
              </a:rPr>
            </a:br>
            <a:endParaRPr sz="2000"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Quartile-based scoring effectively segmented customers</a:t>
            </a:r>
            <a:br>
              <a:rPr lang="en-US" sz="2000">
                <a:latin typeface="Open Sans"/>
                <a:ea typeface="Open Sans"/>
                <a:cs typeface="Open Sans"/>
                <a:sym typeface="Open Sans"/>
              </a:rPr>
            </a:br>
            <a:endParaRPr sz="2000"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RFM combined with demographics provides actionable insights</a:t>
            </a:r>
            <a:br>
              <a:rPr lang="en-US" sz="2000">
                <a:latin typeface="Open Sans"/>
                <a:ea typeface="Open Sans"/>
                <a:cs typeface="Open Sans"/>
                <a:sym typeface="Open Sans"/>
              </a:rPr>
            </a:br>
            <a:endParaRPr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Open Sans"/>
                <a:ea typeface="Open Sans"/>
                <a:cs typeface="Open Sans"/>
                <a:sym typeface="Open Sans"/>
              </a:rPr>
              <a:t>This approach supports data-driven customer engagement and marketing decisions.</a:t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None/>
            </a:pPr>
            <a:r>
              <a:t/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 flipH="1" rot="10800000">
            <a:off x="-1" y="0"/>
            <a:ext cx="9163201" cy="5148001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16564" y="0"/>
                </a:lnTo>
                <a:lnTo>
                  <a:pt x="21600" y="8964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43275" y="381375"/>
            <a:ext cx="55377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pen Sans ExtraBold"/>
              <a:buNone/>
            </a:pPr>
            <a:r>
              <a:rPr b="1" lang="en-US" sz="35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Closing Summary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519300" y="1253800"/>
            <a:ext cx="7053000" cy="31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Data was cleaned and analysed using RFM methodology</a:t>
            </a:r>
            <a:br>
              <a:rPr lang="en-US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Customers were segmented into actionable value groups</a:t>
            </a:r>
            <a:br>
              <a:rPr lang="en-US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Insights support targeted marketing and better decision-making</a:t>
            </a:r>
            <a:br>
              <a:rPr lang="en-US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RFM analysis provides a clear, scalable approach to understanding customer value and driving business impact.</a:t>
            </a:r>
            <a:endParaRPr b="1" sz="18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